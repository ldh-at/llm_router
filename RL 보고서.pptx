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EF36E0-1AF2-46D6-A3FE-0E07B82A5DF2}">
  <a:tblStyle styleId="{71EF36E0-1AF2-46D6-A3FE-0E07B82A5D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4c980e2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4c980e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d1ab010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d1ab010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4c980e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d4c980e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dc5fa67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dc5fa67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1ab010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d1ab010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c5fa67a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dc5fa67a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c5fa67a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dc5fa67a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1ab010a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1ab010a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1ab010a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1ab010a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c5fa67a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c5fa67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c5fa67a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c5fa67a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1ab010a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1ab010a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c5fa67a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dc5fa67a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c5fa67a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c5fa67a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dc5fa67a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dc5fa67a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c5fa67a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dc5fa67a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0cff844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e0cff844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0cff844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e0cff844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dc5fa67a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dc5fa67a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dc5fa67a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dc5fa67a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dc5fa67a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dc5fa67a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dc5fa67a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dc5fa67a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0cff84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e0cff84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dc5fa67a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dc5fa67a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dc5fa67a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dc5fa67a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0cff844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e0cff844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d4c980e2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d4c980e2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dc5fa67a9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dc5fa67a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880"/>
              <a:t>Interpretable LLM Routing via SAE-Based Contextual Bandits</a:t>
            </a:r>
            <a:endParaRPr sz="38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팀원 : </a:t>
            </a:r>
            <a:r>
              <a:rPr lang="ko"/>
              <a:t>20231851 </a:t>
            </a:r>
            <a:r>
              <a:rPr lang="ko"/>
              <a:t>이도현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528900" y="3509675"/>
            <a:ext cx="42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https://github.com/ldh-at/LLM_router.git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92"/>
              <a:t>문제 제기</a:t>
            </a:r>
            <a:endParaRPr b="1" sz="1520"/>
          </a:p>
        </p:txBody>
      </p:sp>
      <p:sp>
        <p:nvSpPr>
          <p:cNvPr id="62" name="Google Shape;62;p14"/>
          <p:cNvSpPr txBox="1"/>
          <p:nvPr/>
        </p:nvSpPr>
        <p:spPr>
          <a:xfrm>
            <a:off x="216825" y="1517850"/>
            <a:ext cx="6328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ko" sz="2100">
                <a:solidFill>
                  <a:schemeClr val="dk1"/>
                </a:solidFill>
              </a:rPr>
              <a:t>사람들이 여러 LLM을 쓸 때 </a:t>
            </a:r>
            <a:r>
              <a:rPr b="1" lang="ko" sz="2100">
                <a:solidFill>
                  <a:schemeClr val="dk1"/>
                </a:solidFill>
                <a:highlight>
                  <a:srgbClr val="FFE599"/>
                </a:highlight>
              </a:rPr>
              <a:t>어떤 LLM이 답변을 더 잘 해주는지</a:t>
            </a:r>
            <a:r>
              <a:rPr lang="ko" sz="2100">
                <a:solidFill>
                  <a:schemeClr val="dk1"/>
                </a:solidFill>
                <a:highlight>
                  <a:srgbClr val="FFE599"/>
                </a:highlight>
              </a:rPr>
              <a:t> </a:t>
            </a:r>
            <a:r>
              <a:rPr lang="ko" sz="2100">
                <a:solidFill>
                  <a:schemeClr val="dk1"/>
                </a:solidFill>
              </a:rPr>
              <a:t>명확하게 알지 못하고 LLM을 쓴다.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ko" sz="2100">
                <a:solidFill>
                  <a:schemeClr val="dk1"/>
                </a:solidFill>
              </a:rPr>
              <a:t>기업이나 사용자가 LLM이 좋은 답변을  하는지 </a:t>
            </a:r>
            <a:r>
              <a:rPr b="1" lang="ko" sz="2100">
                <a:solidFill>
                  <a:schemeClr val="dk1"/>
                </a:solidFill>
                <a:highlight>
                  <a:srgbClr val="FFE599"/>
                </a:highlight>
              </a:rPr>
              <a:t>평가하기 쉽지 않다.</a:t>
            </a:r>
            <a:endParaRPr b="1" sz="21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b="1" lang="ko" sz="2100">
                <a:solidFill>
                  <a:schemeClr val="dk1"/>
                </a:solidFill>
                <a:highlight>
                  <a:srgbClr val="FFE599"/>
                </a:highlight>
              </a:rPr>
              <a:t>단순 알고리즘으로는 해결할 수 없다.</a:t>
            </a:r>
            <a:endParaRPr b="1" sz="21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950" y="1998325"/>
            <a:ext cx="2072650" cy="290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현재까지의 LLM 평가 방식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Input마다 “어떤 모델이 잘할지” 예측하는 것이 어려움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cost–accuracy tradeoff explicit하게 다루지 못함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=&gt; 애초에 LLM 모델 답변 평가와 의미별 정확도를 따지기 힘듬 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376" y="2652875"/>
            <a:ext cx="3946600" cy="22258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82425" y="3484475"/>
            <a:ext cx="7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=&gt;Benchmark를 이용함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LLM routing 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1152475"/>
            <a:ext cx="59626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943775" y="4352875"/>
            <a:ext cx="765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프롬프트에 대해 가장 좋은 답변을 하는 LLM 으로 보내는 라우터가 필요하다.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311700" y="2130488"/>
            <a:ext cx="2748300" cy="110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'TASK: Solve the following grade school math problem and provide a numerical answer.\nThe following are examples of grade scho …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448550" y="2243225"/>
            <a:ext cx="33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=&gt; prompt 에 따라</a:t>
            </a:r>
            <a:r>
              <a:rPr b="1" lang="ko" sz="1800">
                <a:solidFill>
                  <a:schemeClr val="dk2"/>
                </a:solidFill>
              </a:rPr>
              <a:t> 다름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050" y="1251125"/>
            <a:ext cx="1362875" cy="28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5034925" y="1865775"/>
            <a:ext cx="36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여러 가지 LLM을 모두 써봐야할까? </a:t>
            </a:r>
            <a:endParaRPr b="1" sz="18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92"/>
              <a:t>프로젝트 주제 및 목표</a:t>
            </a:r>
            <a:endParaRPr b="1" sz="1520"/>
          </a:p>
        </p:txBody>
      </p:sp>
      <p:sp>
        <p:nvSpPr>
          <p:cNvPr id="88" name="Google Shape;88;p17"/>
          <p:cNvSpPr txBox="1"/>
          <p:nvPr/>
        </p:nvSpPr>
        <p:spPr>
          <a:xfrm>
            <a:off x="595025" y="4417350"/>
            <a:ext cx="824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highlight>
                  <a:srgbClr val="FFE599"/>
                </a:highlight>
              </a:rPr>
              <a:t>프롬프트의 </a:t>
            </a:r>
            <a:r>
              <a:rPr b="1" lang="ko" sz="2000" u="sng">
                <a:highlight>
                  <a:srgbClr val="EA9999"/>
                </a:highlight>
              </a:rPr>
              <a:t>의미별로</a:t>
            </a:r>
            <a:r>
              <a:rPr b="1" lang="ko" sz="2000">
                <a:highlight>
                  <a:srgbClr val="FFE599"/>
                </a:highlight>
              </a:rPr>
              <a:t> 가장 답변을 잘하는 LLM을 골라주는 라우터를 만들자</a:t>
            </a:r>
            <a:endParaRPr b="1" sz="2000">
              <a:highlight>
                <a:srgbClr val="FFE599"/>
              </a:highlight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1715338"/>
            <a:ext cx="7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prompt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데이터 셋 - </a:t>
            </a:r>
            <a:r>
              <a:rPr b="1" lang="ko"/>
              <a:t> ROUTERBENCH</a:t>
            </a:r>
            <a:endParaRPr b="1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아래 8개의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벤치마크의 질문</a:t>
            </a:r>
            <a:r>
              <a:rPr lang="ko">
                <a:solidFill>
                  <a:schemeClr val="dk1"/>
                </a:solidFill>
              </a:rPr>
              <a:t>에 대한 </a:t>
            </a:r>
            <a:r>
              <a:rPr b="1" lang="ko">
                <a:solidFill>
                  <a:schemeClr val="dk1"/>
                </a:solidFill>
              </a:rPr>
              <a:t>11개 모델의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프롬프트, 답변, 정답, 비용</a:t>
            </a:r>
            <a:r>
              <a:rPr lang="ko">
                <a:solidFill>
                  <a:schemeClr val="dk1"/>
                </a:solidFill>
              </a:rPr>
              <a:t>을 모아둠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1️⃣ </a:t>
            </a:r>
            <a:r>
              <a:rPr b="1" lang="ko" sz="1100">
                <a:solidFill>
                  <a:schemeClr val="dk1"/>
                </a:solidFill>
              </a:rPr>
              <a:t>ARC</a:t>
            </a:r>
            <a:r>
              <a:rPr lang="ko" sz="1100">
                <a:solidFill>
                  <a:schemeClr val="dk1"/>
                </a:solidFill>
              </a:rPr>
              <a:t> — 과학지식과 논리적 추론을 요구하는 고난도 과학·리딩 문제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2️⃣ </a:t>
            </a:r>
            <a:r>
              <a:rPr b="1" lang="ko" sz="1100">
                <a:solidFill>
                  <a:schemeClr val="dk1"/>
                </a:solidFill>
              </a:rPr>
              <a:t>HellaSwag</a:t>
            </a:r>
            <a:r>
              <a:rPr lang="ko" sz="1100">
                <a:solidFill>
                  <a:schemeClr val="dk1"/>
                </a:solidFill>
              </a:rPr>
              <a:t> — 상식 기반 시나리오 추론을 평가하는 자연스러운 문장 완성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3️⃣ </a:t>
            </a:r>
            <a:r>
              <a:rPr b="1" lang="ko" sz="1100">
                <a:solidFill>
                  <a:schemeClr val="dk1"/>
                </a:solidFill>
              </a:rPr>
              <a:t>Winogrande</a:t>
            </a:r>
            <a:r>
              <a:rPr lang="ko" sz="1100">
                <a:solidFill>
                  <a:schemeClr val="dk1"/>
                </a:solidFill>
              </a:rPr>
              <a:t> — 자연어 참조 해석과 상식적 판단을 묻는 코어퍼런스 문제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4️⃣ </a:t>
            </a:r>
            <a:r>
              <a:rPr b="1" lang="ko" sz="1100">
                <a:solidFill>
                  <a:schemeClr val="dk1"/>
                </a:solidFill>
              </a:rPr>
              <a:t>MMLU</a:t>
            </a:r>
            <a:r>
              <a:rPr lang="ko" sz="1100">
                <a:solidFill>
                  <a:schemeClr val="dk1"/>
                </a:solidFill>
              </a:rPr>
              <a:t> — 57개 분야의 전문지식 이해도를 평가하는 다도메인 QA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5️⃣ </a:t>
            </a:r>
            <a:r>
              <a:rPr b="1" lang="ko" sz="1100">
                <a:solidFill>
                  <a:schemeClr val="dk1"/>
                </a:solidFill>
              </a:rPr>
              <a:t>GSM8K / MATH</a:t>
            </a:r>
            <a:r>
              <a:rPr lang="ko" sz="1100">
                <a:solidFill>
                  <a:schemeClr val="dk1"/>
                </a:solidFill>
              </a:rPr>
              <a:t> — 단계적 계산과 체계적 수학 추론 능력을 측정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6️⃣ </a:t>
            </a:r>
            <a:r>
              <a:rPr b="1" lang="ko" sz="1100">
                <a:solidFill>
                  <a:schemeClr val="dk1"/>
                </a:solidFill>
              </a:rPr>
              <a:t>TruthfulQA</a:t>
            </a:r>
            <a:r>
              <a:rPr lang="ko" sz="1100">
                <a:solidFill>
                  <a:schemeClr val="dk1"/>
                </a:solidFill>
              </a:rPr>
              <a:t> — 환각을 유도하는 질문에 대한 사실성·정확성 평가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7️⃣ </a:t>
            </a:r>
            <a:r>
              <a:rPr b="1" lang="ko" sz="1100">
                <a:solidFill>
                  <a:schemeClr val="dk1"/>
                </a:solidFill>
              </a:rPr>
              <a:t>BBH</a:t>
            </a:r>
            <a:r>
              <a:rPr lang="ko" sz="1100">
                <a:solidFill>
                  <a:schemeClr val="dk1"/>
                </a:solidFill>
              </a:rPr>
              <a:t> — 일반 LLM이 취약한 고난도 논리·추론 태스크 모음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8️⃣ </a:t>
            </a:r>
            <a:r>
              <a:rPr b="1" lang="ko" sz="1100">
                <a:solidFill>
                  <a:schemeClr val="dk1"/>
                </a:solidFill>
              </a:rPr>
              <a:t>HumanEval / BoolQ</a:t>
            </a:r>
            <a:r>
              <a:rPr lang="ko" sz="1100">
                <a:solidFill>
                  <a:schemeClr val="dk1"/>
                </a:solidFill>
              </a:rPr>
              <a:t> — 코드 생성 정확도 및 문맥 기반 QA 능력 평가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데이터 셋 -  </a:t>
            </a:r>
            <a:r>
              <a:rPr b="1" lang="ko"/>
              <a:t>ROUTERBENCH</a:t>
            </a:r>
            <a:endParaRPr b="1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2982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아래 8개의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벤치마크의 질문</a:t>
            </a:r>
            <a:r>
              <a:rPr lang="ko">
                <a:solidFill>
                  <a:schemeClr val="dk1"/>
                </a:solidFill>
              </a:rPr>
              <a:t>에 대한 </a:t>
            </a:r>
            <a:r>
              <a:rPr b="1" lang="ko">
                <a:solidFill>
                  <a:schemeClr val="dk1"/>
                </a:solidFill>
              </a:rPr>
              <a:t>11개 모델의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프롬프트, 답변, 정답,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 비용</a:t>
            </a:r>
            <a:r>
              <a:rPr lang="ko">
                <a:solidFill>
                  <a:schemeClr val="dk1"/>
                </a:solidFill>
              </a:rPr>
              <a:t>을 모아둠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aqns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\q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qms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500" y="1430912"/>
            <a:ext cx="9144002" cy="1533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298200" y="2895875"/>
            <a:ext cx="1985100" cy="83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'TASK: Solve the following grade school math problem and provide a numerical answer.\nThe following are examples of grade scho …</a:t>
            </a:r>
            <a:endParaRPr sz="1000"/>
          </a:p>
        </p:txBody>
      </p:sp>
      <p:sp>
        <p:nvSpPr>
          <p:cNvPr id="104" name="Google Shape;104;p19"/>
          <p:cNvSpPr/>
          <p:nvPr/>
        </p:nvSpPr>
        <p:spPr>
          <a:xfrm>
            <a:off x="2573400" y="2895875"/>
            <a:ext cx="1985100" cy="83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Answer: To solve this problem… answer is “20”</a:t>
            </a:r>
            <a:endParaRPr sz="1000"/>
          </a:p>
        </p:txBody>
      </p:sp>
      <p:sp>
        <p:nvSpPr>
          <p:cNvPr id="105" name="Google Shape;105;p19"/>
          <p:cNvSpPr txBox="1"/>
          <p:nvPr/>
        </p:nvSpPr>
        <p:spPr>
          <a:xfrm>
            <a:off x="4848600" y="2895875"/>
            <a:ext cx="430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완전한 정답    [1.0]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불완전한 설명 [0.75]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틀림               [0.0]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414325" y="3172925"/>
            <a:ext cx="140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0.00035$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44600" y="4316500"/>
            <a:ext cx="7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8:1:1로 train/ val/ test로 사용했다.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강화학습 구조 - STATE </a:t>
            </a:r>
            <a:endParaRPr b="1"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025" y="1565275"/>
            <a:ext cx="5623950" cy="345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11700" y="1017725"/>
            <a:ext cx="822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연구에서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가장 핵심이 되고 고민을 많이한 부분</a:t>
            </a:r>
            <a:r>
              <a:rPr lang="ko" sz="1800">
                <a:solidFill>
                  <a:schemeClr val="dk1"/>
                </a:solidFill>
              </a:rPr>
              <a:t>으로 STATE는 </a:t>
            </a: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SAE를 이용해 프롬프트를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semantic 으로 분리한</a:t>
            </a: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 embedding이다. 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492"/>
              <a:t>Sparse AutoEncoder</a:t>
            </a:r>
            <a:endParaRPr b="1" sz="1520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임베딩 공간을 오히려 늘려서 </a:t>
            </a:r>
            <a:r>
              <a:rPr b="1" lang="ko"/>
              <a:t>각 노드를 Sparse하게 semantic 별로 분류한다.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실제 연구에선 SBERT를 이후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4096개의 node로 늘린 후 Sparse한 공간에서 TOPK로 잘라서 임베딩해서 각각 태그를 붙여 의미를 나타냈다</a:t>
            </a:r>
            <a:r>
              <a:rPr b="1" lang="ko"/>
              <a:t>. L1 Regularization을 이용한다.</a:t>
            </a:r>
            <a:endParaRPr b="1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775" y="2349875"/>
            <a:ext cx="3554452" cy="244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21"/>
          <p:cNvCxnSpPr/>
          <p:nvPr/>
        </p:nvCxnSpPr>
        <p:spPr>
          <a:xfrm flipH="1" rot="10800000">
            <a:off x="2372575" y="3408825"/>
            <a:ext cx="2382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1"/>
          <p:cNvSpPr txBox="1"/>
          <p:nvPr/>
        </p:nvSpPr>
        <p:spPr>
          <a:xfrm>
            <a:off x="941250" y="3184275"/>
            <a:ext cx="7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Topk로 자름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92"/>
              <a:t>고등학교 수학 문제를 풀게 했을때 실제 node별 중요도와 태그</a:t>
            </a:r>
            <a:r>
              <a:rPr lang="ko" sz="2392"/>
              <a:t> </a:t>
            </a:r>
            <a:endParaRPr sz="1420"/>
          </a:p>
        </p:txBody>
      </p:sp>
      <p:sp>
        <p:nvSpPr>
          <p:cNvPr id="129" name="Google Shape;129;p22"/>
          <p:cNvSpPr/>
          <p:nvPr/>
        </p:nvSpPr>
        <p:spPr>
          <a:xfrm>
            <a:off x="62200" y="2085925"/>
            <a:ext cx="2748300" cy="110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'TASK: Solve the following grade school math problem and provide a numerical answer.\nThe following are examples of grade scho …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3345900" y="1371275"/>
            <a:ext cx="390900" cy="3657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3345900" y="2014225"/>
            <a:ext cx="390900" cy="3657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3345900" y="2604775"/>
            <a:ext cx="390900" cy="3657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3345900" y="3195325"/>
            <a:ext cx="390900" cy="3657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3345900" y="3785875"/>
            <a:ext cx="390900" cy="3657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944300" y="1267888"/>
            <a:ext cx="456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feature 956 : 0.2955  | grade-school-math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944300" y="1992925"/>
            <a:ext cx="456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feature 2337: 0.2632  | grade-school-math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944300" y="2604775"/>
            <a:ext cx="456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 feature 3600: 0.2549  | grade-school-math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3944300" y="3195325"/>
            <a:ext cx="456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feature 1283: 0.2498  | grade-school-math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944300" y="3785875"/>
            <a:ext cx="456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feature 1711: 0.1932  | grade-school-math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607650" y="4548125"/>
            <a:ext cx="76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=&gt; </a:t>
            </a: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현재 semantic state, 고등학교 수학에 강한 모델로 보내게 학습하면 됨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2967700" y="1131725"/>
            <a:ext cx="5899800" cy="3416400"/>
          </a:xfrm>
          <a:prstGeom prst="frame">
            <a:avLst>
              <a:gd fmla="val 4428" name="adj1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3078525" y="975750"/>
            <a:ext cx="60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EA9999"/>
                </a:solidFill>
                <a:highlight>
                  <a:srgbClr val="FFE599"/>
                </a:highlight>
              </a:rPr>
              <a:t>TOPK STATE</a:t>
            </a:r>
            <a:endParaRPr b="1" sz="1800">
              <a:solidFill>
                <a:srgbClr val="EA9999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강화학습 구조 - ACTION - contextual bandit </a:t>
            </a:r>
            <a:endParaRPr b="1"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675" y="2074075"/>
            <a:ext cx="4674501" cy="28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Multi-Armed Bandit의 확장 버전으로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 context에 따라 action</a:t>
            </a:r>
            <a:r>
              <a:rPr lang="ko">
                <a:solidFill>
                  <a:schemeClr val="dk1"/>
                </a:solidFill>
              </a:rPr>
              <a:t>을 선택한다.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Action은 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어떤 LLM으로 보낼 지 고르는 과정이다</a:t>
            </a:r>
            <a:r>
              <a:rPr lang="ko">
                <a:solidFill>
                  <a:schemeClr val="dk1"/>
                </a:solidFill>
              </a:rPr>
              <a:t>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강화학습 구조 - REWARD </a:t>
            </a:r>
            <a:endParaRPr b="1"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52475"/>
            <a:ext cx="85206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Reward는 </a:t>
            </a:r>
            <a:r>
              <a:rPr b="1" lang="ko">
                <a:solidFill>
                  <a:schemeClr val="dk1"/>
                </a:solidFill>
                <a:highlight>
                  <a:srgbClr val="EA9999"/>
                </a:highlight>
              </a:rPr>
              <a:t>Correctness</a:t>
            </a:r>
            <a:r>
              <a:rPr b="1" lang="ko">
                <a:solidFill>
                  <a:schemeClr val="dk1"/>
                </a:solidFill>
                <a:highlight>
                  <a:srgbClr val="FFE599"/>
                </a:highlight>
              </a:rPr>
              <a:t>로 0~1.0사이에서 상위 모델이 답변에 매긴 점수를 바탕으로 채점되었다.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625" y="2236450"/>
            <a:ext cx="6806750" cy="12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392"/>
              <a:t>전체 구조</a:t>
            </a:r>
            <a:endParaRPr b="1" sz="239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92"/>
              <a:t>Interpretable LLM Routing via SAE-Based Contextual Bandits</a:t>
            </a:r>
            <a:endParaRPr b="1" sz="1120"/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37121" l="0" r="0" t="32193"/>
          <a:stretch/>
        </p:blipFill>
        <p:spPr>
          <a:xfrm>
            <a:off x="1249450" y="1342562"/>
            <a:ext cx="6645101" cy="11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520675" y="4152900"/>
            <a:ext cx="649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Q network가 semantic 단위 state로 더 잘하는 라우터를 골라줌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8375" y="2215243"/>
            <a:ext cx="847725" cy="193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6100" y="2753285"/>
            <a:ext cx="3082000" cy="10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6625" y="2369793"/>
            <a:ext cx="847725" cy="17840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1071550" y="2913038"/>
            <a:ext cx="1527900" cy="69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'TASK: Solve the following grade school math problem and provide a numerical answer.\nThe following are examples of grade scho …</a:t>
            </a:r>
            <a:endParaRPr sz="800"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7413" y="2766272"/>
            <a:ext cx="1527901" cy="991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하이퍼 파라미터 구성</a:t>
            </a:r>
            <a:endParaRPr b="1"/>
          </a:p>
        </p:txBody>
      </p:sp>
      <p:graphicFrame>
        <p:nvGraphicFramePr>
          <p:cNvPr id="174" name="Google Shape;174;p26"/>
          <p:cNvGraphicFramePr/>
          <p:nvPr/>
        </p:nvGraphicFramePr>
        <p:xfrm>
          <a:off x="1564350" y="11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{71EF36E0-1AF2-46D6-A3FE-0E07B82A5DF2}</a:tableStyleId>
              </a:tblPr>
              <a:tblGrid>
                <a:gridCol w="2541500"/>
                <a:gridCol w="3267625"/>
              </a:tblGrid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항목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값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k_top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rgbClr val="EA9999"/>
                          </a:highlight>
                        </a:rPr>
                        <a:t>32 / 64</a:t>
                      </a:r>
                      <a:endParaRPr b="1" sz="11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learning rate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1e−3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batch size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128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2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epochs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5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λ_cost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chemeClr val="lt1"/>
                          </a:highlight>
                        </a:rPr>
                        <a:t>0 (완전 비활성화)</a:t>
                      </a:r>
                      <a:endParaRPr b="1" sz="11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>
                          <a:solidFill>
                            <a:schemeClr val="dk1"/>
                          </a:solidFill>
                        </a:rPr>
                        <a:t>reward weight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>
                          <a:solidFill>
                            <a:schemeClr val="dk1"/>
                          </a:solidFill>
                        </a:rPr>
                        <a:t>1.0 / 1.5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optimizer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Adam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6"/>
          <p:cNvSpPr txBox="1"/>
          <p:nvPr/>
        </p:nvSpPr>
        <p:spPr>
          <a:xfrm>
            <a:off x="186900" y="4288975"/>
            <a:ext cx="89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Semantic에 집중하고 STATE가 중요한 만큼 </a:t>
            </a:r>
            <a:r>
              <a:rPr b="1" lang="ko" sz="1800">
                <a:solidFill>
                  <a:schemeClr val="dk2"/>
                </a:solidFill>
              </a:rPr>
              <a:t>SAE embedding을 32 64로 나눠서 정확도를 비교해 보았다.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하이퍼 파라미터 구성</a:t>
            </a:r>
            <a:endParaRPr b="1"/>
          </a:p>
        </p:txBody>
      </p:sp>
      <p:graphicFrame>
        <p:nvGraphicFramePr>
          <p:cNvPr id="181" name="Google Shape;181;p27"/>
          <p:cNvGraphicFramePr/>
          <p:nvPr/>
        </p:nvGraphicFramePr>
        <p:xfrm>
          <a:off x="1564350" y="11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{71EF36E0-1AF2-46D6-A3FE-0E07B82A5DF2}</a:tableStyleId>
              </a:tblPr>
              <a:tblGrid>
                <a:gridCol w="2541500"/>
                <a:gridCol w="3267625"/>
              </a:tblGrid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항목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값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k_top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32 / 64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learning rate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1e−3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batch size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128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2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epochs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5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λ_cost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rgbClr val="EA9999"/>
                          </a:highlight>
                        </a:rPr>
                        <a:t>0 (완전 비활성화)</a:t>
                      </a:r>
                      <a:endParaRPr b="1" sz="11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reward weight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1.0 / 1.5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optimizer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Adam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7"/>
          <p:cNvSpPr txBox="1"/>
          <p:nvPr/>
        </p:nvSpPr>
        <p:spPr>
          <a:xfrm>
            <a:off x="186900" y="4288975"/>
            <a:ext cx="89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cost 반영은 단순 API 호출 비용 데이터만 있어서</a:t>
            </a:r>
            <a:r>
              <a:rPr b="1" lang="ko" sz="1800">
                <a:solidFill>
                  <a:schemeClr val="dk2"/>
                </a:solidFill>
              </a:rPr>
              <a:t> latency, memory등을 실제로 비교하는것을 future work로 남겨두겠다. 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28"/>
          <p:cNvGraphicFramePr/>
          <p:nvPr/>
        </p:nvGraphicFramePr>
        <p:xfrm>
          <a:off x="1576957" y="11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{71EF36E0-1AF2-46D6-A3FE-0E07B82A5DF2}</a:tableStyleId>
              </a:tblPr>
              <a:tblGrid>
                <a:gridCol w="2541500"/>
                <a:gridCol w="3267625"/>
              </a:tblGrid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항목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값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k_top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chemeClr val="lt2"/>
                          </a:highlight>
                        </a:rPr>
                        <a:t>32 / 64</a:t>
                      </a:r>
                      <a:endParaRPr b="1" sz="1100">
                        <a:highlight>
                          <a:schemeClr val="lt2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learning rate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1e−3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batch size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128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2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epochs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5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λ_cost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chemeClr val="lt1"/>
                          </a:highlight>
                        </a:rPr>
                        <a:t>0 (완전 비활성화)</a:t>
                      </a:r>
                      <a:endParaRPr b="1" sz="11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6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reward 구성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dk1"/>
                          </a:solidFill>
                          <a:highlight>
                            <a:srgbClr val="EA9999"/>
                          </a:highlight>
                        </a:rPr>
                        <a:t>1.0 / 1.5</a:t>
                      </a:r>
                      <a:endParaRPr b="1" sz="11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optimizer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Adam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8"/>
          <p:cNvSpPr txBox="1"/>
          <p:nvPr/>
        </p:nvSpPr>
        <p:spPr>
          <a:xfrm>
            <a:off x="476850" y="4301575"/>
            <a:ext cx="89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최대한 정확도를 잃지 않기 위해 reward weight도 올려보았다.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하이퍼 파라미터 구성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실험 결과</a:t>
            </a:r>
            <a:endParaRPr b="1"/>
          </a:p>
        </p:txBody>
      </p:sp>
      <p:sp>
        <p:nvSpPr>
          <p:cNvPr id="195" name="Google Shape;195;p29"/>
          <p:cNvSpPr txBox="1"/>
          <p:nvPr/>
        </p:nvSpPr>
        <p:spPr>
          <a:xfrm>
            <a:off x="476850" y="4301575"/>
            <a:ext cx="89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537775" y="4392150"/>
            <a:ext cx="82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semantic state가 늘어나면 top 1 3 5 정확도가 모두 높아지는 것을 볼 수 있다.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97" name="Google Shape;197;p29"/>
          <p:cNvGraphicFramePr/>
          <p:nvPr/>
        </p:nvGraphicFramePr>
        <p:xfrm>
          <a:off x="1375250" y="108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{71EF36E0-1AF2-46D6-A3FE-0E07B82A5DF2}</a:tableStyleId>
              </a:tblPr>
              <a:tblGrid>
                <a:gridCol w="685800"/>
                <a:gridCol w="685800"/>
                <a:gridCol w="685800"/>
                <a:gridCol w="1562100"/>
                <a:gridCol w="1066800"/>
                <a:gridCol w="1066800"/>
                <a:gridCol w="10668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Config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w_corr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k_top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Avg Reward (Router)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Router Top-1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Router Top-3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</a:rPr>
                        <a:t>Router Top-5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0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32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0.8222</a:t>
                      </a:r>
                      <a:endParaRPr b="1" sz="1100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0.8223</a:t>
                      </a:r>
                      <a:endParaRPr b="1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0.8908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0.9118</a:t>
                      </a:r>
                      <a:endParaRPr/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64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0.8223</a:t>
                      </a:r>
                      <a:endParaRPr b="1" sz="1100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0.8223</a:t>
                      </a:r>
                      <a:endParaRPr b="1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0.8918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0.9106</a:t>
                      </a:r>
                      <a:endParaRPr/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2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1.5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32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1.232</a:t>
                      </a:r>
                      <a:endParaRPr b="1" sz="1100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0.8213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0.8929</a:t>
                      </a:r>
                      <a:endParaRPr b="1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0.9134</a:t>
                      </a:r>
                      <a:endParaRPr/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3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1.5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64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highlight>
                            <a:srgbClr val="FFE599"/>
                          </a:highlight>
                        </a:rPr>
                        <a:t>1.2328</a:t>
                      </a:r>
                      <a:endParaRPr b="1" sz="1100">
                        <a:highlight>
                          <a:srgbClr val="FFE599"/>
                        </a:highlight>
                      </a:endParaRPr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0.821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0.892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0.9135</a:t>
                      </a:r>
                      <a:endParaRPr b="1"/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BEST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1.5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64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1.2328</a:t>
                      </a:r>
                      <a:endParaRPr b="1" sz="1100"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0.822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0.8928</a:t>
                      </a:r>
                      <a:endParaRPr/>
                    </a:p>
                  </a:txBody>
                  <a:tcPr marT="91425" marB="91425" marR="91425" marL="91425"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0.9157</a:t>
                      </a:r>
                      <a:endParaRPr/>
                    </a:p>
                  </a:txBody>
                  <a:tcPr marT="91425" marB="91425" marR="91425" marL="91425">
                    <a:lnR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실험 결과</a:t>
            </a:r>
            <a:endParaRPr b="1"/>
          </a:p>
        </p:txBody>
      </p:sp>
      <p:sp>
        <p:nvSpPr>
          <p:cNvPr id="203" name="Google Shape;203;p30"/>
          <p:cNvSpPr txBox="1"/>
          <p:nvPr/>
        </p:nvSpPr>
        <p:spPr>
          <a:xfrm>
            <a:off x="476850" y="4301575"/>
            <a:ext cx="89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462150" y="4379525"/>
            <a:ext cx="821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놀랍게도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cost 가중치를 넣지 않았지만 state를 64로 늘린</a:t>
            </a: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 </a:t>
            </a:r>
            <a:r>
              <a:rPr b="1" lang="ko" sz="1800">
                <a:solidFill>
                  <a:schemeClr val="dk2"/>
                </a:solidFill>
                <a:highlight>
                  <a:srgbClr val="FFE599"/>
                </a:highlight>
              </a:rPr>
              <a:t>config 1,3이 cost까지 </a:t>
            </a:r>
            <a:endParaRPr b="1" sz="1800">
              <a:solidFill>
                <a:schemeClr val="dk2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FFE599"/>
                </a:highlight>
              </a:rPr>
              <a:t>싸게 나오는 것을 알 수 있다. </a:t>
            </a:r>
            <a:endParaRPr b="1" sz="1800">
              <a:solidFill>
                <a:schemeClr val="dk2"/>
              </a:solidFill>
              <a:highlight>
                <a:srgbClr val="FFE599"/>
              </a:highlight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351" y="545298"/>
            <a:ext cx="3895001" cy="39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실험 결과</a:t>
            </a:r>
            <a:endParaRPr b="1"/>
          </a:p>
        </p:txBody>
      </p:sp>
      <p:sp>
        <p:nvSpPr>
          <p:cNvPr id="211" name="Google Shape;211;p31"/>
          <p:cNvSpPr txBox="1"/>
          <p:nvPr/>
        </p:nvSpPr>
        <p:spPr>
          <a:xfrm>
            <a:off x="476850" y="4301575"/>
            <a:ext cx="89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462150" y="4379525"/>
            <a:ext cx="821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1"/>
                </a:highlight>
              </a:rPr>
              <a:t>놀랍게도 </a:t>
            </a:r>
            <a:r>
              <a:rPr b="1" lang="ko" sz="1800">
                <a:solidFill>
                  <a:schemeClr val="dk2"/>
                </a:solidFill>
                <a:highlight>
                  <a:schemeClr val="lt1"/>
                </a:highlight>
              </a:rPr>
              <a:t>cost 가중치를 넣지 않았지만 state를 64로 늘린 config 1,3이 cost까지 </a:t>
            </a:r>
            <a:endParaRPr b="1"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chemeClr val="lt1"/>
                </a:highlight>
              </a:rPr>
              <a:t>싸게 나오는 것을 알 수 있다. </a:t>
            </a:r>
            <a:endParaRPr b="1" sz="1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351" y="545298"/>
            <a:ext cx="3895001" cy="39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/>
        </p:nvSpPr>
        <p:spPr>
          <a:xfrm>
            <a:off x="1111900" y="2072525"/>
            <a:ext cx="72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추가 논의가 필요하지만 semantic을 이해하면 알아서 cost-aware한 적절한 모델로 보내준다고도 말할 수 있다. </a:t>
            </a:r>
            <a:endParaRPr b="1" sz="18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</a:t>
            </a:r>
            <a:r>
              <a:rPr b="1" lang="ko"/>
              <a:t>고등수학 문제에 대한 top3 - router의 대답 비교(번역)</a:t>
            </a:r>
            <a:r>
              <a:rPr b="1" lang="ko"/>
              <a:t> </a:t>
            </a:r>
            <a:endParaRPr b="1"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125" y="1132300"/>
            <a:ext cx="4407714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6520150" y="2110325"/>
            <a:ext cx="24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gpt-4-1106-preview — Q=1.0229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claude-v2 — Q=1.0181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claude-v1 — Q=0.9956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고등수학 문제에 대한 top3 - router의 대답 비교 </a:t>
            </a:r>
            <a:endParaRPr b="1"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125" y="1132300"/>
            <a:ext cx="466840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/>
        </p:nvSpPr>
        <p:spPr>
          <a:xfrm>
            <a:off x="3633225" y="1341350"/>
            <a:ext cx="54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논리적 설명</a:t>
            </a: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이 담겨있고 문제 해설 매우 자세함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6520150" y="2110325"/>
            <a:ext cx="24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B6D7A8"/>
                </a:highlight>
              </a:rPr>
              <a:t>gpt-4-1106-preview — Q=1.0229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claude-v2 — Q=1.0181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claude-v1 — Q=0.9956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고등수학 문제에 대한 top3 - router의 대답 비교 </a:t>
            </a:r>
            <a:endParaRPr b="1"/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850" y="1220575"/>
            <a:ext cx="3512092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/>
          <p:nvPr/>
        </p:nvSpPr>
        <p:spPr>
          <a:xfrm>
            <a:off x="3608025" y="1303525"/>
            <a:ext cx="48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설명의 연결이 부족하지만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풀이 과정은 맞음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6520150" y="2110325"/>
            <a:ext cx="24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gpt-4-1106-preview — Q=1.0229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B6D7A8"/>
                </a:highlight>
              </a:rPr>
              <a:t>claude-v2 — Q=1.0181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claude-v1 — Q=0.9956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고등수학 문제에 대한 top3 - router의 대답 비교 </a:t>
            </a:r>
            <a:endParaRPr b="1"/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875" y="1125075"/>
            <a:ext cx="4934701" cy="269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/>
        </p:nvSpPr>
        <p:spPr>
          <a:xfrm>
            <a:off x="3608025" y="1290925"/>
            <a:ext cx="54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근거도 부족하고 해설력도 부족함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수식만 맞음</a:t>
            </a:r>
            <a:endParaRPr b="1" sz="18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6520150" y="2110325"/>
            <a:ext cx="24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gpt-4-1106-preview — Q=1.0229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claude-v2 — Q=1.0181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B6D7A8"/>
                </a:highlight>
              </a:rPr>
              <a:t>claude-v1 — Q=0.9956</a:t>
            </a:r>
            <a:endParaRPr sz="1800">
              <a:solidFill>
                <a:schemeClr val="dk2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고등수학 문제에 대한 top3 - router의 대답 비교 </a:t>
            </a:r>
            <a:endParaRPr b="1"/>
          </a:p>
        </p:txBody>
      </p:sp>
      <p:pic>
        <p:nvPicPr>
          <p:cNvPr id="251" name="Google Shape;2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875" y="1125075"/>
            <a:ext cx="4934701" cy="269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/>
          <p:nvPr/>
        </p:nvSpPr>
        <p:spPr>
          <a:xfrm>
            <a:off x="3608025" y="1290925"/>
            <a:ext cx="54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근거도 부족하고 해설력도 부족함 </a:t>
            </a:r>
            <a:r>
              <a:rPr b="1" lang="ko" sz="1800">
                <a:solidFill>
                  <a:schemeClr val="dk1"/>
                </a:solidFill>
                <a:highlight>
                  <a:srgbClr val="EA9999"/>
                </a:highlight>
              </a:rPr>
              <a:t>수식만 맞음</a:t>
            </a:r>
            <a:endParaRPr b="1" sz="18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6520150" y="2110325"/>
            <a:ext cx="248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gpt-4-1106-preview — Q=1.0229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claude-v2 — Q=1.0181</a:t>
            </a:r>
            <a:br>
              <a:rPr lang="ko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B6D7A8"/>
                </a:highlight>
              </a:rPr>
              <a:t>claude-v1 — Q=0.9956</a:t>
            </a:r>
            <a:endParaRPr sz="1800">
              <a:solidFill>
                <a:schemeClr val="dk2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1321225" y="2753300"/>
            <a:ext cx="7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EA9999"/>
                </a:highlight>
              </a:rPr>
              <a:t>이렇듯 의미적 구분을 중심으로 routing이 된 것을 알 수 있음</a:t>
            </a:r>
            <a:endParaRPr b="1" sz="1800">
              <a:solidFill>
                <a:schemeClr val="dk2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EX) 고등수학 문제에 대한 SAE feature(STATE)</a:t>
            </a:r>
            <a:r>
              <a:rPr b="1" lang="ko"/>
              <a:t> 비교</a:t>
            </a:r>
            <a:r>
              <a:rPr b="1" lang="ko"/>
              <a:t> </a:t>
            </a:r>
            <a:endParaRPr b="1"/>
          </a:p>
        </p:txBody>
      </p:sp>
      <p:sp>
        <p:nvSpPr>
          <p:cNvPr id="260" name="Google Shape;260;p37"/>
          <p:cNvSpPr txBox="1"/>
          <p:nvPr/>
        </p:nvSpPr>
        <p:spPr>
          <a:xfrm>
            <a:off x="393325" y="1076625"/>
            <a:ext cx="7261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Top SAE Features (k_show=20):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956 : 0.2955  | grade-school-math (0.64, n=9290)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2337: 0.2632  | grade-school-math (0.82, n=7234)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3600: 0.2549  | grade-school-math (0.65, n=9134)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1283: 0.2498  | grade-school-math (0.73, n=8182)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1711: 0.1932  | grade-school-math (0.87, n=6821)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3381: 0.1768  | grade-school-math (0.91, n=6559)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3016: 0.1539  | grade-school-math (0.96, n=6187)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2443: 0.1533  | grade-school-math (0.90, n=6658)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2641: 0.1468  | grade-school-math (0.99, n=6011)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3386: 0.1452  | grade-school-math (0.89, n=6676)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368 : 0.1311  | grade-school-math (0.90, n=6608)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1450: 0.1307  | grade-school-math (0.95, n=6267)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2849: 0.1254  | grade-school-math (0.95, n=6248)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3814: 0.1182  | grade-school-math (0.95, n=6299)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1495: 0.1135  | grade-school-math (1.00, n=5961)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831 : 0.1103  | grade-school-math (0.95, n=6255)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2566: 0.1074  | grade-school-math (0.95, n=6297)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423 : 0.0910  | grade-school-math (1.00, n=5960)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122 : 0.0837  | grade-school-math (1.00, n=5968)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  feature 816 : 0.0807  | grade-school-math (1.00, n=5960)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61" name="Google Shape;261;p37"/>
          <p:cNvSpPr txBox="1"/>
          <p:nvPr/>
        </p:nvSpPr>
        <p:spPr>
          <a:xfrm>
            <a:off x="4641775" y="1276725"/>
            <a:ext cx="4434900" cy="3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hellaswag — 일상 상황 서술의 다음 문장 상식 추론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highlight>
                  <a:srgbClr val="FFE599"/>
                </a:highlight>
              </a:rPr>
              <a:t>grade-school-math — GSM8K류 초중등 단계 서술형 수학 문제 풀이</a:t>
            </a:r>
            <a:endParaRPr sz="11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arc-challenge — ARC Challenge 난이도, 초중등 과학/상식 객관식 추론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winogrande — 대명사/상황 기반 상식 코리퍼런스 판별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bias_detection — 응답의 편향/차별 표현 탐지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abstract2title — 논문 초록을 보고 적절한 제목 생성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consensus_summary — 다중 응답 요약/합의 요약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mbpp — 간단한 파이썬 프로그래밍 문제(입출력 예시 기반 코드 작성)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chinese_zodiac — 띠/간지 관련 중국어 상식 질의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Chinese_character_riddles — 한자 수수께끼 풀이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chinese_tang_poetries — 당시(唐詩) 관련 질의/이해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chinese_shi_jing — 시경 관련 질의/이해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accounting_audit — 회계 감사 관련 질의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chinese_ancient_poetry — 고대 중국 시문 해석/완성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chinese_hard_translations — 난이도 높은 중국어 번역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위와 같이 86개 정도의 의미 구분 feature가 있음. </a:t>
            </a:r>
            <a:r>
              <a:rPr lang="ko" sz="1100">
                <a:solidFill>
                  <a:schemeClr val="dk1"/>
                </a:solidFill>
                <a:highlight>
                  <a:srgbClr val="FFE599"/>
                </a:highlight>
              </a:rPr>
              <a:t>여기서는 고등수학이라 state가 전부 </a:t>
            </a:r>
            <a:r>
              <a:rPr lang="ko" sz="1100">
                <a:solidFill>
                  <a:schemeClr val="dk2"/>
                </a:solidFill>
                <a:highlight>
                  <a:srgbClr val="FFE599"/>
                </a:highlight>
              </a:rPr>
              <a:t>grade-school-math 인것을 볼 수 있음</a:t>
            </a:r>
            <a:endParaRPr sz="1100">
              <a:solidFill>
                <a:schemeClr val="dk2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chemeClr val="lt1"/>
                </a:highlight>
              </a:rPr>
              <a:t> (나머지는 github정리)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967250" y="1697675"/>
            <a:ext cx="73683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이렇듯 </a:t>
            </a:r>
            <a:r>
              <a:rPr b="1" lang="ko">
                <a:highlight>
                  <a:srgbClr val="FFE599"/>
                </a:highlight>
              </a:rPr>
              <a:t>state를 가지고 라우팅을 하면 semantic aware routing을 할 수 있</a:t>
            </a:r>
            <a:r>
              <a:rPr b="1" lang="ko"/>
              <a:t>고, 적절한 모델로 보내면 cost-aware routing도 된다는 것을 알 수 있다.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2373600" y="2277150"/>
            <a:ext cx="43968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추가 논의 사항 및 보완할 점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492"/>
              <a:t>단순히 bandit이 아니라 멀티라우팅이 좋은 것 아닌가?</a:t>
            </a:r>
            <a:endParaRPr b="1" sz="1520"/>
          </a:p>
        </p:txBody>
      </p:sp>
      <p:sp>
        <p:nvSpPr>
          <p:cNvPr id="277" name="Google Shape;27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multi- rounding router를 연구한 논문 결과를 보면 대부분의 질문은 한번의 routing으로 처리 가능하고, 많아도 2-hop이면 끝난다.</a:t>
            </a:r>
            <a:endParaRPr b="1"/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125" y="1997300"/>
            <a:ext cx="2886951" cy="213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0"/>
          <p:cNvSpPr txBox="1"/>
          <p:nvPr/>
        </p:nvSpPr>
        <p:spPr>
          <a:xfrm>
            <a:off x="1048850" y="4229225"/>
            <a:ext cx="726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2"/>
                </a:solidFill>
                <a:highlight>
                  <a:srgbClr val="EA9999"/>
                </a:highlight>
              </a:rPr>
              <a:t>Reference: Router-R1 (Jiang et al., 2024)</a:t>
            </a:r>
            <a:endParaRPr b="1" sz="900">
              <a:solidFill>
                <a:schemeClr val="dk2"/>
              </a:solidFill>
              <a:highlight>
                <a:srgbClr val="EA9999"/>
              </a:highlight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3885350" y="2571750"/>
            <a:ext cx="490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highlight>
                  <a:srgbClr val="FFE599"/>
                </a:highlight>
              </a:rPr>
              <a:t>=&gt; 올바른 라우팅으로 1-hop에 끝낼 수 있음</a:t>
            </a:r>
            <a:endParaRPr b="1" sz="18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492"/>
              <a:t>보완할 점</a:t>
            </a:r>
            <a:endParaRPr b="1" sz="1520"/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연구에서 모델 </a:t>
            </a:r>
            <a:r>
              <a:rPr lang="ko">
                <a:solidFill>
                  <a:schemeClr val="dk1"/>
                </a:solidFill>
                <a:highlight>
                  <a:srgbClr val="F9CB9C"/>
                </a:highlight>
              </a:rPr>
              <a:t>11개를 직접 돌릴 수 없는 환경적 한계</a:t>
            </a:r>
            <a:r>
              <a:rPr lang="ko">
                <a:solidFill>
                  <a:schemeClr val="dk1"/>
                </a:solidFill>
              </a:rPr>
              <a:t>로 실제 routing이 아닌 routerbench라는 데이터셋에 의존해서 실험했다. 또한 데이터 셋에 gpt 4 와 비교할 만한 큰 모델이 없었다는 것이다.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정확도가 100이 아닌 것을 보면  </a:t>
            </a:r>
            <a:r>
              <a:rPr lang="ko">
                <a:solidFill>
                  <a:schemeClr val="dk1"/>
                </a:solidFill>
                <a:highlight>
                  <a:srgbClr val="F9CB9C"/>
                </a:highlight>
              </a:rPr>
              <a:t>multi - rounding이 몇가지 case에서는 필요</a:t>
            </a:r>
            <a:r>
              <a:rPr lang="ko">
                <a:solidFill>
                  <a:schemeClr val="dk1"/>
                </a:solidFill>
              </a:rPr>
              <a:t>하다는 것을 알 수 있다.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  <a:highlight>
                  <a:srgbClr val="F9CB9C"/>
                </a:highlight>
              </a:rPr>
              <a:t>최근 나오는 멀티모달 모델</a:t>
            </a:r>
            <a:r>
              <a:rPr lang="ko">
                <a:solidFill>
                  <a:schemeClr val="dk1"/>
                </a:solidFill>
              </a:rPr>
              <a:t>들의 평가는 어떻게 할 지 고민해봐야 할 것 같다.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